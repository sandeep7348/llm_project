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IARAR Road-Aware Routing Flow Diagram</a:t>
            </a:r>
          </a:p>
        </p:txBody>
      </p:sp>
      <p:pic>
        <p:nvPicPr>
          <p:cNvPr id="4" name="Picture 3" descr="IARAR_Road_Aware_Path_D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Based on infrastructure-assisted hybrid road-aware routing and path duration estimation model.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IoV Congestion Detection and Avoidance Flow Diagram</a:t>
            </a:r>
          </a:p>
        </p:txBody>
      </p:sp>
      <p:pic>
        <p:nvPicPr>
          <p:cNvPr id="4" name="Picture 3" descr="IoV_CDA_Congestion_Detection_Avoi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RSU-based congestion detection using occupancy metrics and rerouting using modified EG-Dijkstra.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RAVP Vehicle Position Analysis Flow Diagram</a:t>
            </a:r>
          </a:p>
        </p:txBody>
      </p:sp>
      <p:pic>
        <p:nvPicPr>
          <p:cNvPr id="4" name="Picture 3" descr="RAVP_Vehicle_Position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Trajectory prediction based routing using position probability and association matrices.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IoV Routing Taxonomy Flow Diagram</a:t>
            </a:r>
          </a:p>
        </p:txBody>
      </p:sp>
      <p:pic>
        <p:nvPicPr>
          <p:cNvPr id="4" name="Picture 3" descr="IoV_Routing_Review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Classification of IoV routing protocols based on transmission strategy and information usage.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AI-enabled HHO Clustering Optimization Flow Diagram</a:t>
            </a:r>
          </a:p>
        </p:txBody>
      </p:sp>
      <p:pic>
        <p:nvPicPr>
          <p:cNvPr id="4" name="Picture 3" descr="AI_Enabled_HHO_Clustering_Optim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Bio-inspired optimization for cluster head selection and routing QoS improvement.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IoV Routing Survey Concept Flow Diagram</a:t>
            </a:r>
          </a:p>
        </p:txBody>
      </p:sp>
      <p:pic>
        <p:nvPicPr>
          <p:cNvPr id="4" name="Picture 3" descr="IoV_Survey_Sensor_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Survey of routing strategies, challenges and protocol design considerations.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/>
              <a:t>Research Gap in Existing IoV Routing 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Most routing protocols optimize single metric (delay OR PDR OR congestion)</a:t>
            </a:r>
          </a:p>
          <a:p>
            <a:pPr/>
            <a:r>
              <a:t>• Limited integration of real-time traffic + mobility prediction + AI optimization</a:t>
            </a:r>
          </a:p>
          <a:p>
            <a:pPr/>
            <a:r>
              <a:t>• Poor adaptability to highly dynamic topology and vehicle density changes</a:t>
            </a:r>
          </a:p>
          <a:p>
            <a:pPr/>
            <a:r>
              <a:t>• Limited real-time intelligent decision making (mostly rule-based routing)</a:t>
            </a:r>
          </a:p>
          <a:p>
            <a:pPr/>
            <a:r>
              <a:t>• Lack of hybrid architecture combining RSU + Edge Intelligence + Vehicle Intelligence</a:t>
            </a:r>
          </a:p>
          <a:p>
            <a:pPr/>
            <a:r>
              <a:t>• Limited use of modern AI (LLM + RL + GNN combined) in IoV routing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/>
              <a:t>Proposed LLM + RL + GNN Hybrid IoV Routing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Vehicles → Collect real-time traffic, mobility, and network state data</a:t>
            </a:r>
          </a:p>
          <a:p>
            <a:pPr/>
            <a:r>
              <a:t>• RSU / Edge Server → Aggregates local traffic and network information</a:t>
            </a:r>
          </a:p>
          <a:p>
            <a:pPr/>
            <a:r>
              <a:t>• GNN Module → Models IoV network graph (vehicles = nodes, links = edges)</a:t>
            </a:r>
          </a:p>
          <a:p>
            <a:pPr/>
            <a:r>
              <a:t>• LLM Module → Understands traffic context and generates routing policy guidance</a:t>
            </a:r>
          </a:p>
          <a:p>
            <a:pPr/>
            <a:r>
              <a:t>• Reinforcement Learning Agent → Learns optimal routing decisions dynamically</a:t>
            </a:r>
          </a:p>
          <a:p>
            <a:pPr/>
            <a:r>
              <a:t>• Routing Controller → Selects best forwarding node / path</a:t>
            </a:r>
          </a:p>
          <a:p>
            <a:pPr/>
            <a:r>
              <a:t>• Feedback Loop → Network performance metrics update RL + LLM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